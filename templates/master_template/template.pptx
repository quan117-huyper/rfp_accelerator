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07040" y="5120640"/>
            <a:ext cx="1828800" cy="182880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F4E79"/>
                </a:solidFill>
                <a:latin typeface="Aptos"/>
              </a:rPr>
              <a:t>ENTERPRISE PROPOSAL TEMPLATE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8686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1F2937"/>
                </a:solidFill>
                <a:latin typeface="Aptos"/>
              </a:rPr>
              <a:t>Deck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5876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66666"/>
                </a:solidFill>
                <a:latin typeface="Aptos"/>
              </a:rPr>
              <a:t>Subtitle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Prepared 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640080"/>
            <a:ext cx="502920" cy="50292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7132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F4E79"/>
                </a:solidFill>
                <a:latin typeface="Aptos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9167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1F2937"/>
                </a:solidFill>
                <a:latin typeface="Aptos"/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66666"/>
                </a:solidFill>
                <a:latin typeface="Aptos"/>
              </a:rPr>
              <a:t>Subtitle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F2937"/>
                </a:solidFill>
                <a:latin typeface="Aptos"/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63624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Aptos"/>
              </a:rPr>
              <a:t>Agenda 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03704"/>
            <a:ext cx="384048" cy="384048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2203704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6712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Aptos"/>
              </a:rPr>
              <a:t>Agenda 2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70632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Aptos"/>
              </a:rPr>
              <a:t>Agenda 3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410712"/>
            <a:ext cx="384048" cy="384048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74136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Aptos"/>
              </a:rPr>
              <a:t>Agenda 4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14216"/>
            <a:ext cx="384048" cy="38404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77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Aptos"/>
              </a:rPr>
              <a:t>Agenda 5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81144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Aptos"/>
              </a:rPr>
              <a:t>Agenda 6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221224"/>
            <a:ext cx="384048" cy="38404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5221224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18464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Aptos"/>
              </a:rPr>
              <a:t>Agenda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333756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96112" y="1627632"/>
            <a:ext cx="457200" cy="457200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F2937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Card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Card body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417320"/>
            <a:ext cx="333756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690872" y="1627632"/>
            <a:ext cx="457200" cy="457200"/>
          </a:xfrm>
          <a:prstGeom prst="ellipse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F2937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317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Card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Card body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417320"/>
            <a:ext cx="333756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485632" y="1627632"/>
            <a:ext cx="457200" cy="457200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F2937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3317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Card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83464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Card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F4E79"/>
                </a:solidFill>
                <a:latin typeface="Aptos"/>
              </a:rPr>
              <a:t>Why this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Subtitle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420624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Bullets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Solution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5257800" cy="44805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Aptos"/>
              </a:rPr>
              <a:t>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46634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Aptos"/>
              </a:rPr>
              <a:t>Business bullets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Aptos"/>
              </a:rP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40280"/>
            <a:ext cx="46634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Aptos"/>
              </a:rPr>
              <a:t>Technical bullets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Engagement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484632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92808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6666"/>
                </a:solidFill>
                <a:latin typeface="Aptos"/>
              </a:rPr>
              <a:t>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484632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92808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6666"/>
                </a:solidFill>
                <a:latin typeface="Aptos"/>
              </a:rPr>
              <a:t>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484632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50208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6666"/>
                </a:solidFill>
                <a:latin typeface="Aptos"/>
              </a:rPr>
              <a:t>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291840"/>
            <a:ext cx="4846320" cy="15087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35204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950208"/>
            <a:ext cx="4389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6666"/>
                </a:solidFill>
                <a:latin typeface="Aptos"/>
              </a:rP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Target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2880360" cy="347472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F4E79"/>
                </a:solidFill>
                <a:latin typeface="Aptos"/>
              </a:rP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06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5468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6666"/>
                </a:solidFill>
                <a:latin typeface="Aptos"/>
              </a:rPr>
              <a:t>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554480"/>
            <a:ext cx="2880360" cy="347472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00600" y="1828800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F4E79"/>
                </a:solidFill>
                <a:latin typeface="Aptos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606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15468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6666"/>
                </a:solidFill>
                <a:latin typeface="Aptos"/>
              </a:rPr>
              <a:t>Label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554480"/>
            <a:ext cx="2880360" cy="347472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58200" y="1828800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F4E79"/>
                </a:solidFill>
                <a:latin typeface="Aptos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6060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15468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6666"/>
                </a:solidFill>
                <a:latin typeface="Aptos"/>
              </a:rPr>
              <a:t>Label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965960" cy="35661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F2937"/>
                </a:solidFill>
                <a:latin typeface="Aptos"/>
              </a:rPr>
              <a:t>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600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ptos"/>
              </a:rPr>
              <a:t>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508760"/>
            <a:ext cx="1965960" cy="35661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063240" y="182880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F2937"/>
                </a:solidFill>
                <a:latin typeface="Aptos"/>
              </a:rPr>
              <a:t>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331720"/>
            <a:ext cx="1600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ptos"/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79" y="1508760"/>
            <a:ext cx="1965960" cy="35661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94959" y="182880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F2937"/>
                </a:solidFill>
                <a:latin typeface="Aptos"/>
              </a:rPr>
              <a:t>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2331720"/>
            <a:ext cx="1600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ptos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508760"/>
            <a:ext cx="1965960" cy="35661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26679" y="182880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F2937"/>
                </a:solidFill>
                <a:latin typeface="Aptos"/>
              </a:rPr>
              <a:t>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331720"/>
            <a:ext cx="1600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ptos"/>
              </a:rPr>
              <a:t>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19" y="1508760"/>
            <a:ext cx="1965960" cy="35661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399" y="182880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1F2937"/>
                </a:solidFill>
                <a:latin typeface="Aptos"/>
              </a:rPr>
              <a:t>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399" y="2331720"/>
            <a:ext cx="1600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Aptos"/>
              </a:rPr>
              <a:t>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F4E79"/>
                </a:solidFill>
                <a:latin typeface="Aptos"/>
              </a:rPr>
              <a:t>W1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2194560" cy="274320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1879" y="1325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F4E79"/>
                </a:solidFill>
                <a:latin typeface="Aptos"/>
              </a:rPr>
              <a:t>W2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79" y="1783080"/>
            <a:ext cx="2194560" cy="274320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F4E79"/>
                </a:solidFill>
                <a:latin typeface="Aptos"/>
              </a:rPr>
              <a:t>W3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2194560" cy="274320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19" y="1325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F4E79"/>
                </a:solidFill>
                <a:latin typeface="Aptos"/>
              </a:rPr>
              <a:t>W4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19" y="1783080"/>
            <a:ext cx="2194560" cy="274320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Milestone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Cost Assumptions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325880"/>
          <a:ext cx="8595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02920">
                <a:tc>
                  <a:txBody>
                    <a:bodyPr/>
                    <a:lstStyle/>
                    <a:p>
                      <a:r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840480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Aptos"/>
              </a:rPr>
              <a:t>Cost note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Core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48463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92808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48463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92808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48463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383280"/>
            <a:ext cx="48463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36118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041648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Logical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22402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Node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50591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3520439" y="1280160"/>
            <a:ext cx="22402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Node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39" y="2450591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22402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Node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50591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Rectangle 8"/>
          <p:cNvSpPr/>
          <p:nvPr/>
        </p:nvSpPr>
        <p:spPr>
          <a:xfrm>
            <a:off x="9281159" y="1280160"/>
            <a:ext cx="22402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Node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59" y="2450591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22402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Node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07992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520439" y="3337560"/>
            <a:ext cx="22402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Node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4507992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400800" y="3337560"/>
            <a:ext cx="22402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Node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07992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281159" y="3337560"/>
            <a:ext cx="2240280" cy="10515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1F2937"/>
                </a:solidFill>
                <a:latin typeface="Aptos"/>
              </a:rPr>
              <a:t>Node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4507992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333756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96112" y="1627632"/>
            <a:ext cx="4572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F2937"/>
                </a:solidFill>
                <a:latin typeface="Aptos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Risk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417320"/>
            <a:ext cx="333756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690872" y="1627632"/>
            <a:ext cx="4572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F2937"/>
                </a:solidFill>
                <a:latin typeface="Aptos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317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Risk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83464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Mitigation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417320"/>
            <a:ext cx="333756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485632" y="1627632"/>
            <a:ext cx="457200" cy="457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1F2937"/>
                </a:solidFill>
                <a:latin typeface="Aptos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3317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Risk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83464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F4E79"/>
                </a:solidFill>
                <a:latin typeface="Aptos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48463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Step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92808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Step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48463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Step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92808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Step body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48463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Step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Step body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383280"/>
            <a:ext cx="48463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E1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361188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ptos"/>
              </a:rPr>
              <a:t>Step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041648"/>
            <a:ext cx="4389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Step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82880" y="18288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1F2937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66666"/>
                </a:solidFill>
                <a:latin typeface="Aptos"/>
              </a:rPr>
              <a:t>Closing 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Aptos"/>
              </a:rPr>
              <a:t>AI Proposal Workbench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